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7/8/2026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8CB330-65B5-1060-B340-086F26EA74CE}"/>
              </a:ext>
            </a:extLst>
          </p:cNvPr>
          <p:cNvSpPr>
            <a:spLocks noGrp="1"/>
          </p:cNvSpPr>
          <p:nvPr>
            <p:ph type="ctrTitle"/>
          </p:nvPr>
        </p:nvSpPr>
        <p:spPr>
          <a:xfrm>
            <a:off x="2589212" y="2480735"/>
            <a:ext cx="8915399" cy="1896529"/>
          </a:xfrm>
        </p:spPr>
        <p:txBody>
          <a:bodyPr/>
          <a:lstStyle/>
          <a:p>
            <a:r>
              <a:rPr lang="en-IN" b="1" i="1" dirty="0"/>
              <a:t>Startup Funding Insights Dashboard</a:t>
            </a:r>
          </a:p>
        </p:txBody>
      </p:sp>
      <p:sp>
        <p:nvSpPr>
          <p:cNvPr id="3" name="Subtitle 2">
            <a:extLst>
              <a:ext uri="{FF2B5EF4-FFF2-40B4-BE49-F238E27FC236}">
                <a16:creationId xmlns:a16="http://schemas.microsoft.com/office/drawing/2014/main" id="{D16CA6F4-97E8-136F-719F-AEBCCE7E9E80}"/>
              </a:ext>
            </a:extLst>
          </p:cNvPr>
          <p:cNvSpPr>
            <a:spLocks noGrp="1"/>
          </p:cNvSpPr>
          <p:nvPr>
            <p:ph type="subTitle" idx="1"/>
          </p:nvPr>
        </p:nvSpPr>
        <p:spPr>
          <a:xfrm>
            <a:off x="2589213" y="4493343"/>
            <a:ext cx="8915399" cy="1410320"/>
          </a:xfrm>
        </p:spPr>
        <p:txBody>
          <a:bodyPr>
            <a:normAutofit fontScale="92500" lnSpcReduction="10000"/>
          </a:bodyPr>
          <a:lstStyle/>
          <a:p>
            <a:pPr algn="ctr"/>
            <a:r>
              <a:rPr lang="en-US" dirty="0"/>
              <a:t>                                              </a:t>
            </a:r>
            <a:r>
              <a:rPr lang="en-US" b="1" dirty="0"/>
              <a:t>- Submitted by </a:t>
            </a:r>
          </a:p>
          <a:p>
            <a:r>
              <a:rPr lang="en-US" b="1" dirty="0"/>
              <a:t>                                                                                           </a:t>
            </a:r>
            <a:r>
              <a:rPr lang="en-US" b="1" dirty="0" err="1"/>
              <a:t>Korlimarla</a:t>
            </a:r>
            <a:r>
              <a:rPr lang="en-US" b="1" dirty="0"/>
              <a:t> Sreevalli Sai Keerthi</a:t>
            </a:r>
          </a:p>
          <a:p>
            <a:r>
              <a:rPr lang="en-US" b="1" dirty="0"/>
              <a:t>                                                                                           </a:t>
            </a:r>
            <a:r>
              <a:rPr lang="en-US" b="1" dirty="0" err="1"/>
              <a:t>Damarouthu</a:t>
            </a:r>
            <a:r>
              <a:rPr lang="en-US" b="1" dirty="0"/>
              <a:t> </a:t>
            </a:r>
            <a:r>
              <a:rPr lang="en-US" b="1" dirty="0" err="1"/>
              <a:t>Vaisalya</a:t>
            </a:r>
            <a:endParaRPr lang="en-US" b="1" dirty="0"/>
          </a:p>
          <a:p>
            <a:r>
              <a:rPr lang="en-US" b="1" dirty="0"/>
              <a:t>                                                                                           Chakka Gowri Sai Kalki</a:t>
            </a:r>
            <a:endParaRPr lang="en-IN" b="1" dirty="0"/>
          </a:p>
        </p:txBody>
      </p:sp>
    </p:spTree>
    <p:extLst>
      <p:ext uri="{BB962C8B-B14F-4D97-AF65-F5344CB8AC3E}">
        <p14:creationId xmlns:p14="http://schemas.microsoft.com/office/powerpoint/2010/main" val="9259836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66" name="Group 65">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9"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0"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1"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2"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3"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4"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5"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6"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7"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8"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19"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67" name="Group 66">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2"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3"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4"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5"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6"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7"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8"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29"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0"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1"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2"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3"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8" name="Rectangle 67">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69"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70" name="Rectangle 69">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1" name="Group 40">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42"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71"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44"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45"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46"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47"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48"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49"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50"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51"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52"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53"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55" name="Freeform 6">
            <a:extLst>
              <a:ext uri="{FF2B5EF4-FFF2-40B4-BE49-F238E27FC236}">
                <a16:creationId xmlns:a16="http://schemas.microsoft.com/office/drawing/2014/main" id="{8576F020-8157-45CE-B1D9-6FA47AFEB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1159566"/>
            <a:ext cx="7560245" cy="453886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p>
      <p:sp>
        <p:nvSpPr>
          <p:cNvPr id="2" name="Title 1">
            <a:extLst>
              <a:ext uri="{FF2B5EF4-FFF2-40B4-BE49-F238E27FC236}">
                <a16:creationId xmlns:a16="http://schemas.microsoft.com/office/drawing/2014/main" id="{D85ECF3F-8907-C542-0497-EE3F8D829453}"/>
              </a:ext>
            </a:extLst>
          </p:cNvPr>
          <p:cNvSpPr>
            <a:spLocks noGrp="1"/>
          </p:cNvSpPr>
          <p:nvPr>
            <p:ph type="title"/>
          </p:nvPr>
        </p:nvSpPr>
        <p:spPr>
          <a:xfrm>
            <a:off x="987215" y="1318590"/>
            <a:ext cx="5102159" cy="4220820"/>
          </a:xfrm>
        </p:spPr>
        <p:txBody>
          <a:bodyPr vert="horz" lIns="91440" tIns="45720" rIns="91440" bIns="45720" rtlCol="0" anchor="ctr">
            <a:normAutofit/>
          </a:bodyPr>
          <a:lstStyle/>
          <a:p>
            <a:r>
              <a:rPr lang="en-US" sz="5400" b="1" dirty="0">
                <a:solidFill>
                  <a:srgbClr val="FFFFFF"/>
                </a:solidFill>
              </a:rPr>
              <a:t>Contents</a:t>
            </a:r>
          </a:p>
        </p:txBody>
      </p:sp>
      <p:sp>
        <p:nvSpPr>
          <p:cNvPr id="5" name="TextBox 4">
            <a:extLst>
              <a:ext uri="{FF2B5EF4-FFF2-40B4-BE49-F238E27FC236}">
                <a16:creationId xmlns:a16="http://schemas.microsoft.com/office/drawing/2014/main" id="{EAB23189-C864-88B9-5B17-E019BB49B8CF}"/>
              </a:ext>
            </a:extLst>
          </p:cNvPr>
          <p:cNvSpPr txBox="1"/>
          <p:nvPr/>
        </p:nvSpPr>
        <p:spPr>
          <a:xfrm>
            <a:off x="7967288" y="2061272"/>
            <a:ext cx="3368642" cy="3785652"/>
          </a:xfrm>
          <a:prstGeom prst="rect">
            <a:avLst/>
          </a:prstGeom>
          <a:noFill/>
        </p:spPr>
        <p:txBody>
          <a:bodyPr wrap="square">
            <a:spAutoFit/>
          </a:bodyPr>
          <a:lstStyle/>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Title</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Introduction</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Problem Statement</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Objectives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Tools &amp;Technologies</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Dataset Overview</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Visualizations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Key Insights </a:t>
            </a:r>
          </a:p>
          <a:p>
            <a:pPr marL="342900" indent="-342900">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Conclusion </a:t>
            </a:r>
          </a:p>
          <a:p>
            <a:pPr marL="342900" indent="-342900">
              <a:buFont typeface="Arial" panose="020B0604020202020204" pitchFamily="34" charset="0"/>
              <a:buChar char="•"/>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9868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733EA04-9346-F0D2-7441-15BEED762971}"/>
              </a:ext>
            </a:extLst>
          </p:cNvPr>
          <p:cNvSpPr txBox="1"/>
          <p:nvPr/>
        </p:nvSpPr>
        <p:spPr>
          <a:xfrm>
            <a:off x="3028335" y="1536174"/>
            <a:ext cx="7737987" cy="3847207"/>
          </a:xfrm>
          <a:prstGeom prst="rect">
            <a:avLst/>
          </a:prstGeom>
          <a:noFill/>
        </p:spPr>
        <p:txBody>
          <a:bodyPr wrap="square">
            <a:spAutoFit/>
          </a:bodyPr>
          <a:lstStyle/>
          <a:p>
            <a:pPr algn="ctr"/>
            <a:r>
              <a:rPr lang="en-IN" sz="2400" b="1" dirty="0">
                <a:latin typeface="Times New Roman" panose="02020603050405020304" pitchFamily="18" charset="0"/>
                <a:cs typeface="Times New Roman" panose="02020603050405020304" pitchFamily="18" charset="0"/>
              </a:rPr>
              <a:t>INTRODUCTION</a:t>
            </a:r>
          </a:p>
          <a:p>
            <a:pPr algn="ct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Startup funding is the financial support provided by investors to help startups develop, expand, and achieve business growth. </a:t>
            </a:r>
          </a:p>
          <a:p>
            <a:r>
              <a:rPr lang="en-IN" sz="2000" dirty="0">
                <a:latin typeface="Times New Roman" panose="02020603050405020304" pitchFamily="18" charset="0"/>
                <a:cs typeface="Times New Roman" panose="02020603050405020304" pitchFamily="18" charset="0"/>
              </a:rPr>
              <a:t>As startup investments continue to increase, </a:t>
            </a:r>
            <a:r>
              <a:rPr lang="en-IN" sz="2000" dirty="0" err="1">
                <a:latin typeface="Times New Roman" panose="02020603050405020304" pitchFamily="18" charset="0"/>
                <a:cs typeface="Times New Roman" panose="02020603050405020304" pitchFamily="18" charset="0"/>
              </a:rPr>
              <a:t>analyzing</a:t>
            </a:r>
            <a:r>
              <a:rPr lang="en-IN" sz="2000" dirty="0">
                <a:latin typeface="Times New Roman" panose="02020603050405020304" pitchFamily="18" charset="0"/>
                <a:cs typeface="Times New Roman" panose="02020603050405020304" pitchFamily="18" charset="0"/>
              </a:rPr>
              <a:t> funding data manually becomes difficult. </a:t>
            </a:r>
          </a:p>
          <a:p>
            <a:r>
              <a:rPr lang="en-IN" sz="2000" dirty="0">
                <a:latin typeface="Times New Roman" panose="02020603050405020304" pitchFamily="18" charset="0"/>
                <a:cs typeface="Times New Roman" panose="02020603050405020304" pitchFamily="18" charset="0"/>
              </a:rPr>
              <a:t>This project uses Microsoft Power BI to transform startup funding data into interactive dashboards and meaningful visualizations. It provides insights into Total Funding, Top Investors, Top Funded Startups, Industry-wise Funding, Funding Types, and Key Performance Indicators (KPIs), enabling users to understand investment trends and make data-driven decisions.</a:t>
            </a:r>
          </a:p>
        </p:txBody>
      </p:sp>
    </p:spTree>
    <p:extLst>
      <p:ext uri="{BB962C8B-B14F-4D97-AF65-F5344CB8AC3E}">
        <p14:creationId xmlns:p14="http://schemas.microsoft.com/office/powerpoint/2010/main" val="30102512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39980-7F15-78C9-D396-4C1FB0B3C22F}"/>
              </a:ext>
            </a:extLst>
          </p:cNvPr>
          <p:cNvSpPr>
            <a:spLocks noGrp="1"/>
          </p:cNvSpPr>
          <p:nvPr>
            <p:ph type="title"/>
          </p:nvPr>
        </p:nvSpPr>
        <p:spPr>
          <a:xfrm>
            <a:off x="2435608" y="1302536"/>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PROBLEM STATEMENT</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5283FBB-F6C6-CA99-D8D6-6438D238A607}"/>
              </a:ext>
            </a:extLst>
          </p:cNvPr>
          <p:cNvSpPr txBox="1"/>
          <p:nvPr/>
        </p:nvSpPr>
        <p:spPr>
          <a:xfrm>
            <a:off x="2592924" y="2141846"/>
            <a:ext cx="7757651" cy="3170099"/>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Startup funding data is continuously growing, making it difficult 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investment trends using raw data. Identifying top investors, highly funded startups, industry-wise funding distribution, and funding patterns manually is time-consuming and inefficient. There is a need for an interactive Power BI dashboard that transforms raw funding data into clear visual insights, enabling faster analysis and better decision-making.</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dashboard provides a centralized view of startup funding information through interactive visualizations.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It helps users identify investment patterns, funding stages, and industry performance more efficiently. </a:t>
            </a:r>
          </a:p>
        </p:txBody>
      </p:sp>
    </p:spTree>
    <p:extLst>
      <p:ext uri="{BB962C8B-B14F-4D97-AF65-F5344CB8AC3E}">
        <p14:creationId xmlns:p14="http://schemas.microsoft.com/office/powerpoint/2010/main" val="9635464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2949F-2BC5-0D55-9CE8-6882588C12D0}"/>
              </a:ext>
            </a:extLst>
          </p:cNvPr>
          <p:cNvSpPr>
            <a:spLocks noGrp="1"/>
          </p:cNvSpPr>
          <p:nvPr>
            <p:ph type="title"/>
          </p:nvPr>
        </p:nvSpPr>
        <p:spPr>
          <a:xfrm>
            <a:off x="2534890" y="1350868"/>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OBJECTIVES</a:t>
            </a:r>
            <a:br>
              <a:rPr lang="en-US" sz="2400" b="1" dirty="0">
                <a:latin typeface="Times New Roman" panose="02020603050405020304" pitchFamily="18" charset="0"/>
                <a:cs typeface="Times New Roman" panose="02020603050405020304" pitchFamily="18" charset="0"/>
              </a:rPr>
            </a:br>
            <a:br>
              <a:rPr lang="en-US" sz="2400" b="1" dirty="0">
                <a:latin typeface="Times New Roman" panose="02020603050405020304" pitchFamily="18" charset="0"/>
                <a:cs typeface="Times New Roman" panose="02020603050405020304" pitchFamily="18" charset="0"/>
              </a:rPr>
            </a:b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54DE1E7-FFFD-B141-A5C4-27322BFF3FD0}"/>
              </a:ext>
            </a:extLst>
          </p:cNvPr>
          <p:cNvSpPr txBox="1"/>
          <p:nvPr/>
        </p:nvSpPr>
        <p:spPr>
          <a:xfrm>
            <a:off x="3047999" y="2138797"/>
            <a:ext cx="7885471" cy="2862322"/>
          </a:xfrm>
          <a:prstGeom prst="rect">
            <a:avLst/>
          </a:prstGeom>
          <a:noFill/>
        </p:spPr>
        <p:txBody>
          <a:bodyPr wrap="square">
            <a:spAutoFit/>
          </a:bodyPr>
          <a:lstStyle/>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startup funding data using Microsoft Power BI.</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To identify top investors and top funded startups.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industry-wise funding distribution and funding types.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To monitor key metrics such as Total Funding, Total Deals, Average Deal Size, and Total Investors. </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To present startup funding insights through interactive dashboards and visualizations.</a:t>
            </a:r>
          </a:p>
          <a:p>
            <a:pPr marL="342900" indent="-342900">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 To support data-driven decision-making for entrepreneurs, investors, and business analysts.</a:t>
            </a:r>
          </a:p>
        </p:txBody>
      </p:sp>
    </p:spTree>
    <p:extLst>
      <p:ext uri="{BB962C8B-B14F-4D97-AF65-F5344CB8AC3E}">
        <p14:creationId xmlns:p14="http://schemas.microsoft.com/office/powerpoint/2010/main" val="35083526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C2CC7-7EEF-EF0F-C360-3486A3F5291F}"/>
              </a:ext>
            </a:extLst>
          </p:cNvPr>
          <p:cNvSpPr>
            <a:spLocks noGrp="1"/>
          </p:cNvSpPr>
          <p:nvPr>
            <p:ph type="title"/>
          </p:nvPr>
        </p:nvSpPr>
        <p:spPr>
          <a:xfrm>
            <a:off x="2589211" y="1026044"/>
            <a:ext cx="8911687" cy="1280890"/>
          </a:xfrm>
        </p:spPr>
        <p:txBody>
          <a:bodyPr>
            <a:normAutofit/>
          </a:bodyPr>
          <a:lstStyle/>
          <a:p>
            <a:pPr algn="ctr"/>
            <a:r>
              <a:rPr lang="en-IN" sz="2400" b="1" dirty="0">
                <a:latin typeface="Times New Roman" panose="02020603050405020304" pitchFamily="18" charset="0"/>
                <a:cs typeface="Times New Roman" panose="02020603050405020304" pitchFamily="18" charset="0"/>
              </a:rPr>
              <a:t>Tools &amp; Technologies</a:t>
            </a:r>
          </a:p>
        </p:txBody>
      </p:sp>
      <p:graphicFrame>
        <p:nvGraphicFramePr>
          <p:cNvPr id="4" name="Table 3">
            <a:extLst>
              <a:ext uri="{FF2B5EF4-FFF2-40B4-BE49-F238E27FC236}">
                <a16:creationId xmlns:a16="http://schemas.microsoft.com/office/drawing/2014/main" id="{2C3B781A-7D6A-79BD-0538-F72D28DB1499}"/>
              </a:ext>
            </a:extLst>
          </p:cNvPr>
          <p:cNvGraphicFramePr>
            <a:graphicFrameLocks noGrp="1"/>
          </p:cNvGraphicFramePr>
          <p:nvPr>
            <p:extLst>
              <p:ext uri="{D42A27DB-BD31-4B8C-83A1-F6EECF244321}">
                <p14:modId xmlns:p14="http://schemas.microsoft.com/office/powerpoint/2010/main" val="582111562"/>
              </p:ext>
            </p:extLst>
          </p:nvPr>
        </p:nvGraphicFramePr>
        <p:xfrm>
          <a:off x="2589211" y="1775628"/>
          <a:ext cx="8915400" cy="3657600"/>
        </p:xfrm>
        <a:graphic>
          <a:graphicData uri="http://schemas.openxmlformats.org/drawingml/2006/table">
            <a:tbl>
              <a:tblPr/>
              <a:tblGrid>
                <a:gridCol w="4457700">
                  <a:extLst>
                    <a:ext uri="{9D8B030D-6E8A-4147-A177-3AD203B41FA5}">
                      <a16:colId xmlns:a16="http://schemas.microsoft.com/office/drawing/2014/main" val="1615251497"/>
                    </a:ext>
                  </a:extLst>
                </a:gridCol>
                <a:gridCol w="4457700">
                  <a:extLst>
                    <a:ext uri="{9D8B030D-6E8A-4147-A177-3AD203B41FA5}">
                      <a16:colId xmlns:a16="http://schemas.microsoft.com/office/drawing/2014/main" val="3814895871"/>
                    </a:ext>
                  </a:extLst>
                </a:gridCol>
              </a:tblGrid>
              <a:tr h="0">
                <a:tc>
                  <a:txBody>
                    <a:bodyPr/>
                    <a:lstStyle/>
                    <a:p>
                      <a:pPr>
                        <a:buNone/>
                      </a:pPr>
                      <a:r>
                        <a:rPr lang="en-IN" sz="1800" b="1"/>
                        <a:t>Tool / Technology</a:t>
                      </a:r>
                      <a:endParaRPr lang="en-IN" sz="1800"/>
                    </a:p>
                  </a:txBody>
                  <a:tcPr anchor="ctr">
                    <a:lnL>
                      <a:noFill/>
                    </a:lnL>
                    <a:lnR>
                      <a:noFill/>
                    </a:lnR>
                    <a:lnT>
                      <a:noFill/>
                    </a:lnT>
                    <a:lnB>
                      <a:noFill/>
                    </a:lnB>
                    <a:noFill/>
                  </a:tcPr>
                </a:tc>
                <a:tc>
                  <a:txBody>
                    <a:bodyPr/>
                    <a:lstStyle/>
                    <a:p>
                      <a:pPr>
                        <a:buNone/>
                      </a:pPr>
                      <a:r>
                        <a:rPr lang="en-IN" sz="1800" b="1" dirty="0"/>
                        <a:t>Purpose</a:t>
                      </a:r>
                      <a:endParaRPr lang="en-IN" sz="1800" dirty="0"/>
                    </a:p>
                  </a:txBody>
                  <a:tcPr anchor="ctr">
                    <a:lnL>
                      <a:noFill/>
                    </a:lnL>
                    <a:lnR>
                      <a:noFill/>
                    </a:lnR>
                    <a:lnT>
                      <a:noFill/>
                    </a:lnT>
                    <a:lnB>
                      <a:noFill/>
                    </a:lnB>
                    <a:noFill/>
                  </a:tcPr>
                </a:tc>
                <a:extLst>
                  <a:ext uri="{0D108BD9-81ED-4DB2-BD59-A6C34878D82A}">
                    <a16:rowId xmlns:a16="http://schemas.microsoft.com/office/drawing/2014/main" val="404699902"/>
                  </a:ext>
                </a:extLst>
              </a:tr>
              <a:tr h="0">
                <a:tc>
                  <a:txBody>
                    <a:bodyPr/>
                    <a:lstStyle/>
                    <a:p>
                      <a:pPr>
                        <a:buNone/>
                      </a:pPr>
                      <a:r>
                        <a:rPr lang="en-IN" sz="1800" b="1"/>
                        <a:t>Microsoft Power BI</a:t>
                      </a:r>
                      <a:endParaRPr lang="en-IN" sz="1800"/>
                    </a:p>
                  </a:txBody>
                  <a:tcPr anchor="ctr">
                    <a:lnL>
                      <a:noFill/>
                    </a:lnL>
                    <a:lnR>
                      <a:noFill/>
                    </a:lnR>
                    <a:lnT>
                      <a:noFill/>
                    </a:lnT>
                    <a:lnB>
                      <a:noFill/>
                    </a:lnB>
                    <a:noFill/>
                  </a:tcPr>
                </a:tc>
                <a:tc>
                  <a:txBody>
                    <a:bodyPr/>
                    <a:lstStyle/>
                    <a:p>
                      <a:pPr>
                        <a:buNone/>
                      </a:pPr>
                      <a:r>
                        <a:rPr lang="en-IN" sz="1800" dirty="0"/>
                        <a:t>Dashboard creation and data visualization</a:t>
                      </a:r>
                    </a:p>
                  </a:txBody>
                  <a:tcPr anchor="ctr">
                    <a:lnL>
                      <a:noFill/>
                    </a:lnL>
                    <a:lnR>
                      <a:noFill/>
                    </a:lnR>
                    <a:lnT>
                      <a:noFill/>
                    </a:lnT>
                    <a:lnB>
                      <a:noFill/>
                    </a:lnB>
                    <a:noFill/>
                  </a:tcPr>
                </a:tc>
                <a:extLst>
                  <a:ext uri="{0D108BD9-81ED-4DB2-BD59-A6C34878D82A}">
                    <a16:rowId xmlns:a16="http://schemas.microsoft.com/office/drawing/2014/main" val="2315053079"/>
                  </a:ext>
                </a:extLst>
              </a:tr>
              <a:tr h="0">
                <a:tc>
                  <a:txBody>
                    <a:bodyPr/>
                    <a:lstStyle/>
                    <a:p>
                      <a:pPr>
                        <a:buNone/>
                      </a:pPr>
                      <a:r>
                        <a:rPr lang="en-IN" sz="1800" b="1"/>
                        <a:t>Power Query</a:t>
                      </a:r>
                      <a:endParaRPr lang="en-IN" sz="1800"/>
                    </a:p>
                  </a:txBody>
                  <a:tcPr anchor="ctr">
                    <a:lnL>
                      <a:noFill/>
                    </a:lnL>
                    <a:lnR>
                      <a:noFill/>
                    </a:lnR>
                    <a:lnT>
                      <a:noFill/>
                    </a:lnT>
                    <a:lnB>
                      <a:noFill/>
                    </a:lnB>
                    <a:noFill/>
                  </a:tcPr>
                </a:tc>
                <a:tc>
                  <a:txBody>
                    <a:bodyPr/>
                    <a:lstStyle/>
                    <a:p>
                      <a:pPr>
                        <a:buNone/>
                      </a:pPr>
                      <a:r>
                        <a:rPr lang="en-IN" sz="1800" dirty="0"/>
                        <a:t>Data cleaning and transformation</a:t>
                      </a:r>
                    </a:p>
                  </a:txBody>
                  <a:tcPr anchor="ctr">
                    <a:lnL>
                      <a:noFill/>
                    </a:lnL>
                    <a:lnR>
                      <a:noFill/>
                    </a:lnR>
                    <a:lnT>
                      <a:noFill/>
                    </a:lnT>
                    <a:lnB>
                      <a:noFill/>
                    </a:lnB>
                    <a:noFill/>
                  </a:tcPr>
                </a:tc>
                <a:extLst>
                  <a:ext uri="{0D108BD9-81ED-4DB2-BD59-A6C34878D82A}">
                    <a16:rowId xmlns:a16="http://schemas.microsoft.com/office/drawing/2014/main" val="1940932430"/>
                  </a:ext>
                </a:extLst>
              </a:tr>
              <a:tr h="0">
                <a:tc>
                  <a:txBody>
                    <a:bodyPr/>
                    <a:lstStyle/>
                    <a:p>
                      <a:pPr>
                        <a:buNone/>
                      </a:pPr>
                      <a:r>
                        <a:rPr lang="en-IN" sz="1800" b="1" dirty="0"/>
                        <a:t>DAX (Data Analysis Expressions)</a:t>
                      </a:r>
                      <a:endParaRPr lang="en-IN" sz="1800" dirty="0"/>
                    </a:p>
                  </a:txBody>
                  <a:tcPr anchor="ctr">
                    <a:lnL>
                      <a:noFill/>
                    </a:lnL>
                    <a:lnR>
                      <a:noFill/>
                    </a:lnR>
                    <a:lnT>
                      <a:noFill/>
                    </a:lnT>
                    <a:lnB>
                      <a:noFill/>
                    </a:lnB>
                    <a:noFill/>
                  </a:tcPr>
                </a:tc>
                <a:tc>
                  <a:txBody>
                    <a:bodyPr/>
                    <a:lstStyle/>
                    <a:p>
                      <a:pPr>
                        <a:buNone/>
                      </a:pPr>
                      <a:r>
                        <a:rPr lang="en-IN" sz="1800" dirty="0"/>
                        <a:t>Creating calculated measures and KPIs</a:t>
                      </a:r>
                    </a:p>
                  </a:txBody>
                  <a:tcPr anchor="ctr">
                    <a:lnL>
                      <a:noFill/>
                    </a:lnL>
                    <a:lnR>
                      <a:noFill/>
                    </a:lnR>
                    <a:lnT>
                      <a:noFill/>
                    </a:lnT>
                    <a:lnB>
                      <a:noFill/>
                    </a:lnB>
                    <a:noFill/>
                  </a:tcPr>
                </a:tc>
                <a:extLst>
                  <a:ext uri="{0D108BD9-81ED-4DB2-BD59-A6C34878D82A}">
                    <a16:rowId xmlns:a16="http://schemas.microsoft.com/office/drawing/2014/main" val="1806466242"/>
                  </a:ext>
                </a:extLst>
              </a:tr>
              <a:tr h="0">
                <a:tc>
                  <a:txBody>
                    <a:bodyPr/>
                    <a:lstStyle/>
                    <a:p>
                      <a:pPr>
                        <a:buNone/>
                      </a:pPr>
                      <a:r>
                        <a:rPr lang="en-IN" sz="1800" b="1" dirty="0"/>
                        <a:t>Microsoft Excel / CSV Dataset</a:t>
                      </a:r>
                      <a:endParaRPr lang="en-IN" sz="1800" dirty="0"/>
                    </a:p>
                  </a:txBody>
                  <a:tcPr anchor="ctr">
                    <a:lnL>
                      <a:noFill/>
                    </a:lnL>
                    <a:lnR>
                      <a:noFill/>
                    </a:lnR>
                    <a:lnT>
                      <a:noFill/>
                    </a:lnT>
                    <a:lnB>
                      <a:noFill/>
                    </a:lnB>
                    <a:noFill/>
                  </a:tcPr>
                </a:tc>
                <a:tc>
                  <a:txBody>
                    <a:bodyPr/>
                    <a:lstStyle/>
                    <a:p>
                      <a:pPr>
                        <a:buNone/>
                      </a:pPr>
                      <a:r>
                        <a:rPr lang="en-IN" sz="1800" dirty="0"/>
                        <a:t>Source of startup funding data</a:t>
                      </a:r>
                    </a:p>
                  </a:txBody>
                  <a:tcPr anchor="ctr">
                    <a:lnL>
                      <a:noFill/>
                    </a:lnL>
                    <a:lnR>
                      <a:noFill/>
                    </a:lnR>
                    <a:lnT>
                      <a:noFill/>
                    </a:lnT>
                    <a:lnB>
                      <a:noFill/>
                    </a:lnB>
                    <a:noFill/>
                  </a:tcPr>
                </a:tc>
                <a:extLst>
                  <a:ext uri="{0D108BD9-81ED-4DB2-BD59-A6C34878D82A}">
                    <a16:rowId xmlns:a16="http://schemas.microsoft.com/office/drawing/2014/main" val="2362421284"/>
                  </a:ext>
                </a:extLst>
              </a:tr>
              <a:tr h="0">
                <a:tc>
                  <a:txBody>
                    <a:bodyPr/>
                    <a:lstStyle/>
                    <a:p>
                      <a:pPr>
                        <a:buNone/>
                      </a:pPr>
                      <a:r>
                        <a:rPr lang="en-IN" sz="1800" b="1"/>
                        <a:t>Data Modeling</a:t>
                      </a:r>
                      <a:endParaRPr lang="en-IN" sz="1800"/>
                    </a:p>
                  </a:txBody>
                  <a:tcPr anchor="ctr">
                    <a:lnL>
                      <a:noFill/>
                    </a:lnL>
                    <a:lnR>
                      <a:noFill/>
                    </a:lnR>
                    <a:lnT>
                      <a:noFill/>
                    </a:lnT>
                    <a:lnB>
                      <a:noFill/>
                    </a:lnB>
                    <a:noFill/>
                  </a:tcPr>
                </a:tc>
                <a:tc>
                  <a:txBody>
                    <a:bodyPr/>
                    <a:lstStyle/>
                    <a:p>
                      <a:pPr>
                        <a:buNone/>
                      </a:pPr>
                      <a:r>
                        <a:rPr lang="en-IN" sz="1800" dirty="0"/>
                        <a:t>Creating relationships between data tables</a:t>
                      </a:r>
                    </a:p>
                  </a:txBody>
                  <a:tcPr anchor="ctr">
                    <a:lnL>
                      <a:noFill/>
                    </a:lnL>
                    <a:lnR>
                      <a:noFill/>
                    </a:lnR>
                    <a:lnT>
                      <a:noFill/>
                    </a:lnT>
                    <a:lnB>
                      <a:noFill/>
                    </a:lnB>
                    <a:noFill/>
                  </a:tcPr>
                </a:tc>
                <a:extLst>
                  <a:ext uri="{0D108BD9-81ED-4DB2-BD59-A6C34878D82A}">
                    <a16:rowId xmlns:a16="http://schemas.microsoft.com/office/drawing/2014/main" val="4036102213"/>
                  </a:ext>
                </a:extLst>
              </a:tr>
              <a:tr h="0">
                <a:tc>
                  <a:txBody>
                    <a:bodyPr/>
                    <a:lstStyle/>
                    <a:p>
                      <a:pPr>
                        <a:buNone/>
                      </a:pPr>
                      <a:r>
                        <a:rPr lang="en-IN" sz="1800" b="1" dirty="0"/>
                        <a:t>Charts &amp; KPI Cards</a:t>
                      </a:r>
                      <a:endParaRPr lang="en-IN" sz="1800" dirty="0"/>
                    </a:p>
                  </a:txBody>
                  <a:tcPr anchor="ctr">
                    <a:lnL>
                      <a:noFill/>
                    </a:lnL>
                    <a:lnR>
                      <a:noFill/>
                    </a:lnR>
                    <a:lnT>
                      <a:noFill/>
                    </a:lnT>
                    <a:lnB>
                      <a:noFill/>
                    </a:lnB>
                    <a:noFill/>
                  </a:tcPr>
                </a:tc>
                <a:tc>
                  <a:txBody>
                    <a:bodyPr/>
                    <a:lstStyle/>
                    <a:p>
                      <a:pPr>
                        <a:buNone/>
                      </a:pPr>
                      <a:r>
                        <a:rPr lang="en-IN" sz="1800" dirty="0"/>
                        <a:t>Visual representation of funding insights</a:t>
                      </a:r>
                    </a:p>
                  </a:txBody>
                  <a:tcPr anchor="ctr">
                    <a:lnL>
                      <a:noFill/>
                    </a:lnL>
                    <a:lnR>
                      <a:noFill/>
                    </a:lnR>
                    <a:lnT>
                      <a:noFill/>
                    </a:lnT>
                    <a:lnB>
                      <a:noFill/>
                    </a:lnB>
                    <a:noFill/>
                  </a:tcPr>
                </a:tc>
                <a:extLst>
                  <a:ext uri="{0D108BD9-81ED-4DB2-BD59-A6C34878D82A}">
                    <a16:rowId xmlns:a16="http://schemas.microsoft.com/office/drawing/2014/main" val="1024383198"/>
                  </a:ext>
                </a:extLst>
              </a:tr>
            </a:tbl>
          </a:graphicData>
        </a:graphic>
      </p:graphicFrame>
    </p:spTree>
    <p:extLst>
      <p:ext uri="{BB962C8B-B14F-4D97-AF65-F5344CB8AC3E}">
        <p14:creationId xmlns:p14="http://schemas.microsoft.com/office/powerpoint/2010/main" val="37415970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0AD6-EDB4-01DE-2618-E0E84A93F79F}"/>
              </a:ext>
            </a:extLst>
          </p:cNvPr>
          <p:cNvSpPr>
            <a:spLocks noGrp="1"/>
          </p:cNvSpPr>
          <p:nvPr>
            <p:ph type="title"/>
          </p:nvPr>
        </p:nvSpPr>
        <p:spPr>
          <a:xfrm>
            <a:off x="2492477" y="913868"/>
            <a:ext cx="8911687" cy="703245"/>
          </a:xfrm>
        </p:spPr>
        <p:txBody>
          <a:bodyPr>
            <a:normAutofit/>
          </a:bodyPr>
          <a:lstStyle/>
          <a:p>
            <a:pPr algn="ctr"/>
            <a:r>
              <a:rPr lang="en-US" sz="2400" b="1" dirty="0">
                <a:latin typeface="Times New Roman" panose="02020603050405020304" pitchFamily="18" charset="0"/>
                <a:cs typeface="Times New Roman" panose="02020603050405020304" pitchFamily="18" charset="0"/>
              </a:rPr>
              <a:t>DATASET</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0D64C159-85AF-C576-2D1E-1E6B14DDB686}"/>
              </a:ext>
            </a:extLst>
          </p:cNvPr>
          <p:cNvSpPr txBox="1"/>
          <p:nvPr/>
        </p:nvSpPr>
        <p:spPr>
          <a:xfrm>
            <a:off x="2477729" y="1542927"/>
            <a:ext cx="8740877" cy="4093428"/>
          </a:xfrm>
          <a:prstGeom prst="rect">
            <a:avLst/>
          </a:prstGeom>
          <a:noFill/>
        </p:spPr>
        <p:txBody>
          <a:bodyPr wrap="square">
            <a:spAutoFit/>
          </a:bodyPr>
          <a:lstStyle/>
          <a:p>
            <a:pPr>
              <a:buNone/>
            </a:pPr>
            <a:r>
              <a:rPr lang="en-IN" sz="2000" dirty="0">
                <a:latin typeface="Times New Roman" panose="02020603050405020304" pitchFamily="18" charset="0"/>
                <a:cs typeface="Times New Roman" panose="02020603050405020304" pitchFamily="18" charset="0"/>
              </a:rPr>
              <a:t>The dataset contains information about startup funding activities, including Startup Name, Industry, Investor Name, Funding Amount, Funding Type, Deal Date, and Investment Details. The data was cleaned and transformed using Power Query before being loaded into Power BI for analysis and visualization. This dataset is used to identify funding trends, investor activity, industry-wise investments, and startup performance.</a:t>
            </a:r>
          </a:p>
          <a:p>
            <a:pPr>
              <a:buNone/>
            </a:pPr>
            <a:endParaRPr lang="en-IN" sz="2000" dirty="0">
              <a:latin typeface="Times New Roman" panose="02020603050405020304" pitchFamily="18" charset="0"/>
              <a:cs typeface="Times New Roman" panose="02020603050405020304" pitchFamily="18" charset="0"/>
            </a:endParaRPr>
          </a:p>
          <a:p>
            <a:pPr>
              <a:buNone/>
            </a:pPr>
            <a:r>
              <a:rPr lang="en-IN" sz="2000" b="1" dirty="0">
                <a:latin typeface="Times New Roman" panose="02020603050405020304" pitchFamily="18" charset="0"/>
                <a:cs typeface="Times New Roman" panose="02020603050405020304" pitchFamily="18" charset="0"/>
              </a:rPr>
              <a:t>Dataset Fields</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Startup Name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Industry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Investor Name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Funding Amount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Funding Type </a:t>
            </a:r>
          </a:p>
        </p:txBody>
      </p:sp>
    </p:spTree>
    <p:extLst>
      <p:ext uri="{BB962C8B-B14F-4D97-AF65-F5344CB8AC3E}">
        <p14:creationId xmlns:p14="http://schemas.microsoft.com/office/powerpoint/2010/main" val="2192017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55" name="Group 54">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56"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57"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58"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59"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60"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61"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62"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63"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64"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65"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66"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67"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69" name="Group 68">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70"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71"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72"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73"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74"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75"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76"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77"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78"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79"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80"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81"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83" name="Rectangle 82">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85"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2" name="Title 1">
            <a:extLst>
              <a:ext uri="{FF2B5EF4-FFF2-40B4-BE49-F238E27FC236}">
                <a16:creationId xmlns:a16="http://schemas.microsoft.com/office/drawing/2014/main" id="{843BC830-A501-3FEE-E376-D92D5571E50C}"/>
              </a:ext>
            </a:extLst>
          </p:cNvPr>
          <p:cNvSpPr>
            <a:spLocks noGrp="1"/>
          </p:cNvSpPr>
          <p:nvPr>
            <p:ph type="title"/>
          </p:nvPr>
        </p:nvSpPr>
        <p:spPr>
          <a:xfrm>
            <a:off x="1687669" y="624110"/>
            <a:ext cx="4137059" cy="1280890"/>
          </a:xfrm>
        </p:spPr>
        <p:txBody>
          <a:bodyPr vert="horz" lIns="91440" tIns="45720" rIns="91440" bIns="45720" rtlCol="0" anchor="t">
            <a:normAutofit/>
          </a:bodyPr>
          <a:lstStyle/>
          <a:p>
            <a:r>
              <a:rPr lang="en-US" sz="3200" b="1"/>
              <a:t>Dashboard Overview</a:t>
            </a:r>
          </a:p>
        </p:txBody>
      </p:sp>
      <p:sp>
        <p:nvSpPr>
          <p:cNvPr id="6" name="TextBox 5">
            <a:extLst>
              <a:ext uri="{FF2B5EF4-FFF2-40B4-BE49-F238E27FC236}">
                <a16:creationId xmlns:a16="http://schemas.microsoft.com/office/drawing/2014/main" id="{3B5551F5-15D8-BF85-5D25-9E4439613A20}"/>
              </a:ext>
            </a:extLst>
          </p:cNvPr>
          <p:cNvSpPr txBox="1"/>
          <p:nvPr/>
        </p:nvSpPr>
        <p:spPr>
          <a:xfrm>
            <a:off x="1683956" y="2133600"/>
            <a:ext cx="4140772" cy="3777622"/>
          </a:xfrm>
          <a:prstGeom prst="rect">
            <a:avLst/>
          </a:prstGeom>
        </p:spPr>
        <p:txBody>
          <a:bodyPr vert="horz" lIns="91440" tIns="45720" rIns="91440" bIns="45720" rtlCol="0">
            <a:normAutofit/>
          </a:bodyPr>
          <a:lstStyle/>
          <a:p>
            <a:pPr>
              <a:spcBef>
                <a:spcPts val="1000"/>
              </a:spcBef>
              <a:buClr>
                <a:schemeClr val="accent1"/>
              </a:buClr>
              <a:buFont typeface="Wingdings 3" charset="2"/>
              <a:buChar char=""/>
            </a:pPr>
            <a:r>
              <a:rPr lang="en-US" dirty="0">
                <a:solidFill>
                  <a:srgbClr val="000000"/>
                </a:solidFill>
              </a:rPr>
              <a:t>The Startup Funding Insights Dashboard provides an interactive overview of startup investment data through KPIs and visualizations. It enables users to analyze funding trends, identify top investors and funded startups, compare industry-wise funding, and understand funding type distribution. </a:t>
            </a:r>
          </a:p>
          <a:p>
            <a:pPr>
              <a:spcBef>
                <a:spcPts val="1000"/>
              </a:spcBef>
              <a:buClr>
                <a:schemeClr val="accent1"/>
              </a:buClr>
              <a:buFont typeface="Wingdings 3" charset="2"/>
              <a:buChar char=""/>
            </a:pPr>
            <a:endParaRPr lang="en-US" dirty="0">
              <a:solidFill>
                <a:srgbClr val="000000"/>
              </a:solidFill>
            </a:endParaRPr>
          </a:p>
        </p:txBody>
      </p:sp>
      <p:pic>
        <p:nvPicPr>
          <p:cNvPr id="9" name="Picture 8">
            <a:extLst>
              <a:ext uri="{FF2B5EF4-FFF2-40B4-BE49-F238E27FC236}">
                <a16:creationId xmlns:a16="http://schemas.microsoft.com/office/drawing/2014/main" id="{4DF66812-0C6A-2F03-F963-26FE8F9F2E17}"/>
              </a:ext>
            </a:extLst>
          </p:cNvPr>
          <p:cNvPicPr>
            <a:picLocks noChangeAspect="1"/>
          </p:cNvPicPr>
          <p:nvPr/>
        </p:nvPicPr>
        <p:blipFill>
          <a:blip r:embed="rId2"/>
          <a:stretch>
            <a:fillRect/>
          </a:stretch>
        </p:blipFill>
        <p:spPr>
          <a:xfrm>
            <a:off x="6091916" y="1749338"/>
            <a:ext cx="5451627" cy="3039282"/>
          </a:xfrm>
          <a:prstGeom prst="rect">
            <a:avLst/>
          </a:prstGeom>
        </p:spPr>
      </p:pic>
    </p:spTree>
    <p:extLst>
      <p:ext uri="{BB962C8B-B14F-4D97-AF65-F5344CB8AC3E}">
        <p14:creationId xmlns:p14="http://schemas.microsoft.com/office/powerpoint/2010/main" val="41735527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0AB6B5-841C-5BFC-2C04-7E163DBC1DCB}"/>
              </a:ext>
            </a:extLst>
          </p:cNvPr>
          <p:cNvSpPr>
            <a:spLocks noGrp="1"/>
          </p:cNvSpPr>
          <p:nvPr>
            <p:ph type="title"/>
          </p:nvPr>
        </p:nvSpPr>
        <p:spPr>
          <a:xfrm>
            <a:off x="2592924" y="1292703"/>
            <a:ext cx="8911687" cy="811400"/>
          </a:xfrm>
        </p:spPr>
        <p:txBody>
          <a:bodyPr>
            <a:normAutofit/>
          </a:bodyPr>
          <a:lstStyle/>
          <a:p>
            <a:pPr algn="ctr"/>
            <a:r>
              <a:rPr lang="en-US" sz="2400" b="1" dirty="0">
                <a:latin typeface="Times New Roman" panose="02020603050405020304" pitchFamily="18" charset="0"/>
                <a:cs typeface="Times New Roman" panose="02020603050405020304" pitchFamily="18" charset="0"/>
              </a:rPr>
              <a:t>VISUALISATIONS</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6B63FE1-3B35-801B-FE15-785644C24A31}"/>
              </a:ext>
            </a:extLst>
          </p:cNvPr>
          <p:cNvSpPr txBox="1"/>
          <p:nvPr/>
        </p:nvSpPr>
        <p:spPr>
          <a:xfrm>
            <a:off x="2691764" y="2019151"/>
            <a:ext cx="8006716" cy="3477875"/>
          </a:xfrm>
          <a:prstGeom prst="rect">
            <a:avLst/>
          </a:prstGeom>
          <a:noFill/>
        </p:spPr>
        <p:txBody>
          <a:bodyPr wrap="square">
            <a:spAutoFit/>
          </a:bodyPr>
          <a:lstStyle/>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KPI Cards</a:t>
            </a:r>
          </a:p>
          <a:p>
            <a:r>
              <a:rPr lang="en-IN" sz="2000" dirty="0">
                <a:latin typeface="Times New Roman" panose="02020603050405020304" pitchFamily="18" charset="0"/>
                <a:cs typeface="Times New Roman" panose="02020603050405020304" pitchFamily="18" charset="0"/>
              </a:rPr>
              <a:t>        Display Total Funding, Average Deal Size, Total Investors, Total Startup Funds, and Total Deals for a quick summary. </a:t>
            </a: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Table Visual</a:t>
            </a:r>
          </a:p>
          <a:p>
            <a:r>
              <a:rPr lang="en-IN" sz="2000" dirty="0">
                <a:latin typeface="Times New Roman" panose="02020603050405020304" pitchFamily="18" charset="0"/>
                <a:cs typeface="Times New Roman" panose="02020603050405020304" pitchFamily="18" charset="0"/>
              </a:rPr>
              <a:t>         Displays Industry and Investor details for detailed data analysis. </a:t>
            </a: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Pie Chart</a:t>
            </a:r>
          </a:p>
          <a:p>
            <a:r>
              <a:rPr lang="en-IN" sz="2000" dirty="0">
                <a:latin typeface="Times New Roman" panose="02020603050405020304" pitchFamily="18" charset="0"/>
                <a:cs typeface="Times New Roman" panose="02020603050405020304" pitchFamily="18" charset="0"/>
              </a:rPr>
              <a:t>         Shows Funding by Industry, helping identify industries that received the highest investments. </a:t>
            </a:r>
          </a:p>
          <a:p>
            <a:pPr marL="285750" indent="-285750">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Donut Chart</a:t>
            </a:r>
          </a:p>
          <a:p>
            <a:r>
              <a:rPr lang="en-IN" sz="2000" dirty="0">
                <a:latin typeface="Times New Roman" panose="02020603050405020304" pitchFamily="18" charset="0"/>
                <a:cs typeface="Times New Roman" panose="02020603050405020304" pitchFamily="18" charset="0"/>
              </a:rPr>
              <a:t>         Represents the distribution of Funding Types, such as Seed, Series A, Series B,           Series C, and other funding stages.</a:t>
            </a:r>
          </a:p>
        </p:txBody>
      </p:sp>
    </p:spTree>
    <p:extLst>
      <p:ext uri="{BB962C8B-B14F-4D97-AF65-F5344CB8AC3E}">
        <p14:creationId xmlns:p14="http://schemas.microsoft.com/office/powerpoint/2010/main" val="420410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B9BEE-028B-DE3C-CA83-923C6F10A5B1}"/>
              </a:ext>
            </a:extLst>
          </p:cNvPr>
          <p:cNvSpPr>
            <a:spLocks noGrp="1"/>
          </p:cNvSpPr>
          <p:nvPr>
            <p:ph type="title"/>
          </p:nvPr>
        </p:nvSpPr>
        <p:spPr>
          <a:xfrm>
            <a:off x="2488752" y="1353315"/>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KEY INSIGHTS</a:t>
            </a:r>
            <a:endParaRPr lang="en-IN" sz="24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7B1FC4A-D737-6CFD-B077-C20069EFF358}"/>
              </a:ext>
            </a:extLst>
          </p:cNvPr>
          <p:cNvSpPr txBox="1"/>
          <p:nvPr/>
        </p:nvSpPr>
        <p:spPr>
          <a:xfrm>
            <a:off x="2592729" y="1863150"/>
            <a:ext cx="7824486" cy="3170099"/>
          </a:xfrm>
          <a:prstGeom prst="rect">
            <a:avLst/>
          </a:prstGeom>
          <a:noFill/>
        </p:spPr>
        <p:txBody>
          <a:bodyPr wrap="square">
            <a:spAutoFit/>
          </a:bodyPr>
          <a:lstStyle/>
          <a:p>
            <a:pPr>
              <a:buNone/>
            </a:pPr>
            <a:endParaRPr lang="en-IN" sz="2000" b="1"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Total Funding</a:t>
            </a:r>
            <a:r>
              <a:rPr lang="en-IN" sz="2000" dirty="0">
                <a:latin typeface="Times New Roman" panose="02020603050405020304" pitchFamily="18" charset="0"/>
                <a:cs typeface="Times New Roman" panose="02020603050405020304" pitchFamily="18" charset="0"/>
              </a:rPr>
              <a:t> reached </a:t>
            </a:r>
            <a:r>
              <a:rPr lang="en-IN" sz="2000" b="1" dirty="0">
                <a:latin typeface="Times New Roman" panose="02020603050405020304" pitchFamily="18" charset="0"/>
                <a:cs typeface="Times New Roman" panose="02020603050405020304" pitchFamily="18" charset="0"/>
              </a:rPr>
              <a:t>25.29 Billion</a:t>
            </a:r>
            <a:r>
              <a:rPr lang="en-IN" sz="2000" dirty="0">
                <a:latin typeface="Times New Roman" panose="02020603050405020304" pitchFamily="18" charset="0"/>
                <a:cs typeface="Times New Roman" panose="02020603050405020304" pitchFamily="18" charset="0"/>
              </a:rPr>
              <a:t>, indicating significant startup investments.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296 unique investors</a:t>
            </a:r>
            <a:r>
              <a:rPr lang="en-IN" sz="2000" dirty="0">
                <a:latin typeface="Times New Roman" panose="02020603050405020304" pitchFamily="18" charset="0"/>
                <a:cs typeface="Times New Roman" panose="02020603050405020304" pitchFamily="18" charset="0"/>
              </a:rPr>
              <a:t> participated in funding </a:t>
            </a:r>
            <a:r>
              <a:rPr lang="en-IN" sz="2000" b="1" dirty="0">
                <a:latin typeface="Times New Roman" panose="02020603050405020304" pitchFamily="18" charset="0"/>
                <a:cs typeface="Times New Roman" panose="02020603050405020304" pitchFamily="18" charset="0"/>
              </a:rPr>
              <a:t>546 startup deals</a:t>
            </a:r>
            <a:r>
              <a:rPr lang="en-IN" sz="2000" dirty="0">
                <a:latin typeface="Times New Roman" panose="02020603050405020304" pitchFamily="18" charset="0"/>
                <a:cs typeface="Times New Roman" panose="02020603050405020304" pitchFamily="18" charset="0"/>
              </a:rPr>
              <a:t>.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average deal size</a:t>
            </a:r>
            <a:r>
              <a:rPr lang="en-IN" sz="2000" dirty="0">
                <a:latin typeface="Times New Roman" panose="02020603050405020304" pitchFamily="18" charset="0"/>
                <a:cs typeface="Times New Roman" panose="02020603050405020304" pitchFamily="18" charset="0"/>
              </a:rPr>
              <a:t> is </a:t>
            </a:r>
            <a:r>
              <a:rPr lang="en-IN" sz="2000" b="1" dirty="0">
                <a:latin typeface="Times New Roman" panose="02020603050405020304" pitchFamily="18" charset="0"/>
                <a:cs typeface="Times New Roman" panose="02020603050405020304" pitchFamily="18" charset="0"/>
              </a:rPr>
              <a:t>46.32 Million</a:t>
            </a:r>
            <a:r>
              <a:rPr lang="en-IN" sz="2000" dirty="0">
                <a:latin typeface="Times New Roman" panose="02020603050405020304" pitchFamily="18" charset="0"/>
                <a:cs typeface="Times New Roman" panose="02020603050405020304" pitchFamily="18" charset="0"/>
              </a:rPr>
              <a:t>, showing the average investment per funding round. </a:t>
            </a:r>
          </a:p>
          <a:p>
            <a:pPr>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a:t>
            </a:r>
            <a:r>
              <a:rPr lang="en-IN" sz="2000" b="1" dirty="0">
                <a:latin typeface="Times New Roman" panose="02020603050405020304" pitchFamily="18" charset="0"/>
                <a:cs typeface="Times New Roman" panose="02020603050405020304" pitchFamily="18" charset="0"/>
              </a:rPr>
              <a:t>Logistics industry</a:t>
            </a:r>
            <a:r>
              <a:rPr lang="en-IN" sz="2000" dirty="0">
                <a:latin typeface="Times New Roman" panose="02020603050405020304" pitchFamily="18" charset="0"/>
                <a:cs typeface="Times New Roman" panose="02020603050405020304" pitchFamily="18" charset="0"/>
              </a:rPr>
              <a:t> received the highest share of funding compared to other industries. </a:t>
            </a:r>
          </a:p>
          <a:p>
            <a:pPr>
              <a:buFont typeface="Arial" panose="020B0604020202020204" pitchFamily="34" charset="0"/>
              <a:buChar char="•"/>
            </a:pPr>
            <a:r>
              <a:rPr lang="en-IN" sz="2000" b="1" dirty="0">
                <a:latin typeface="Times New Roman" panose="02020603050405020304" pitchFamily="18" charset="0"/>
                <a:cs typeface="Times New Roman" panose="02020603050405020304" pitchFamily="18" charset="0"/>
              </a:rPr>
              <a:t>Seed Funding</a:t>
            </a:r>
            <a:r>
              <a:rPr lang="en-IN" sz="2000" dirty="0">
                <a:latin typeface="Times New Roman" panose="02020603050405020304" pitchFamily="18" charset="0"/>
                <a:cs typeface="Times New Roman" panose="02020603050405020304" pitchFamily="18" charset="0"/>
              </a:rPr>
              <a:t> is the most common funding stage, followed by Series A and Series B.</a:t>
            </a:r>
          </a:p>
        </p:txBody>
      </p:sp>
    </p:spTree>
    <p:extLst>
      <p:ext uri="{BB962C8B-B14F-4D97-AF65-F5344CB8AC3E}">
        <p14:creationId xmlns:p14="http://schemas.microsoft.com/office/powerpoint/2010/main" val="7998527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B4633-ABA2-9D4B-F632-347D0FA6BAF7}"/>
              </a:ext>
            </a:extLst>
          </p:cNvPr>
          <p:cNvSpPr>
            <a:spLocks noGrp="1"/>
          </p:cNvSpPr>
          <p:nvPr>
            <p:ph type="title"/>
          </p:nvPr>
        </p:nvSpPr>
        <p:spPr>
          <a:xfrm>
            <a:off x="2431093" y="1480637"/>
            <a:ext cx="8911687" cy="1280890"/>
          </a:xfrm>
        </p:spPr>
        <p:txBody>
          <a:bodyPr>
            <a:normAutofit/>
          </a:bodyPr>
          <a:lstStyle/>
          <a:p>
            <a:pPr algn="ctr"/>
            <a:r>
              <a:rPr lang="en-US" sz="2800" b="1" dirty="0">
                <a:latin typeface="Times New Roman" panose="02020603050405020304" pitchFamily="18" charset="0"/>
                <a:cs typeface="Times New Roman" panose="02020603050405020304" pitchFamily="18" charset="0"/>
              </a:rPr>
              <a:t>CONCLUSION</a:t>
            </a:r>
            <a:endParaRPr lang="en-IN" sz="2800" b="1"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78E772F4-4588-F35E-8ED3-A99D40AB3659}"/>
              </a:ext>
            </a:extLst>
          </p:cNvPr>
          <p:cNvSpPr txBox="1"/>
          <p:nvPr/>
        </p:nvSpPr>
        <p:spPr>
          <a:xfrm>
            <a:off x="2789499" y="2384681"/>
            <a:ext cx="8194876" cy="2308324"/>
          </a:xfrm>
          <a:prstGeom prst="rect">
            <a:avLst/>
          </a:prstGeom>
          <a:noFill/>
        </p:spPr>
        <p:txBody>
          <a:bodyPr wrap="square">
            <a:spAutoFit/>
          </a:bodyPr>
          <a:lstStyle/>
          <a:p>
            <a:r>
              <a:rPr lang="en-IN" sz="2400" dirty="0">
                <a:latin typeface="Times New Roman" panose="02020603050405020304" pitchFamily="18" charset="0"/>
                <a:cs typeface="Times New Roman" panose="02020603050405020304" pitchFamily="18" charset="0"/>
              </a:rPr>
              <a:t>The Startup Funding Insights Dashboard effectively </a:t>
            </a:r>
            <a:r>
              <a:rPr lang="en-IN" sz="2400" dirty="0" err="1">
                <a:latin typeface="Times New Roman" panose="02020603050405020304" pitchFamily="18" charset="0"/>
                <a:cs typeface="Times New Roman" panose="02020603050405020304" pitchFamily="18" charset="0"/>
              </a:rPr>
              <a:t>analyzes</a:t>
            </a:r>
            <a:r>
              <a:rPr lang="en-IN" sz="2400" dirty="0">
                <a:latin typeface="Times New Roman" panose="02020603050405020304" pitchFamily="18" charset="0"/>
                <a:cs typeface="Times New Roman" panose="02020603050405020304" pitchFamily="18" charset="0"/>
              </a:rPr>
              <a:t> startup investment data using Microsoft Power BI. It provides clear insights into funding trends, top investors, industry-wise funding, and key performance metrics through interactive visualizations. The dashboard supports faster analysis and helps users make informed, data-driven decisions.</a:t>
            </a:r>
          </a:p>
        </p:txBody>
      </p:sp>
    </p:spTree>
    <p:extLst>
      <p:ext uri="{BB962C8B-B14F-4D97-AF65-F5344CB8AC3E}">
        <p14:creationId xmlns:p14="http://schemas.microsoft.com/office/powerpoint/2010/main" val="1699627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250" name="Group 249">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251"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2"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53"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54"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55"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56"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257"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258"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259"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60"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61"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62"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64" name="Group 263">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65"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66"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67"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68"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69"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70"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71"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272"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273"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74"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75"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76"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278" name="Rectangle 277">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80"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useBgFill="1">
        <p:nvSpPr>
          <p:cNvPr id="282" name="Rectangle 281">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4" name="Group 283">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285"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86"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87"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88"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9"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0"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291"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292"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293"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294"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295"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296"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sp>
        <p:nvSpPr>
          <p:cNvPr id="298" name="Freeform 6">
            <a:extLst>
              <a:ext uri="{FF2B5EF4-FFF2-40B4-BE49-F238E27FC236}">
                <a16:creationId xmlns:a16="http://schemas.microsoft.com/office/drawing/2014/main" id="{8576F020-8157-45CE-B1D9-6FA47AFEB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1159566"/>
            <a:ext cx="7560245" cy="453886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ln>
            <a:noFill/>
          </a:ln>
        </p:spPr>
      </p:sp>
      <p:sp>
        <p:nvSpPr>
          <p:cNvPr id="3" name="TextBox 2">
            <a:extLst>
              <a:ext uri="{FF2B5EF4-FFF2-40B4-BE49-F238E27FC236}">
                <a16:creationId xmlns:a16="http://schemas.microsoft.com/office/drawing/2014/main" id="{1DB43B45-84DC-3687-0597-1E1DC53FBC6F}"/>
              </a:ext>
            </a:extLst>
          </p:cNvPr>
          <p:cNvSpPr txBox="1"/>
          <p:nvPr/>
        </p:nvSpPr>
        <p:spPr>
          <a:xfrm>
            <a:off x="987215" y="1318590"/>
            <a:ext cx="5102159" cy="4220820"/>
          </a:xfrm>
          <a:prstGeom prst="rect">
            <a:avLst/>
          </a:prstGeom>
        </p:spPr>
        <p:txBody>
          <a:bodyPr vert="horz" lIns="91440" tIns="45720" rIns="91440" bIns="45720" rtlCol="0" anchor="ctr">
            <a:normAutofit/>
          </a:bodyPr>
          <a:lstStyle/>
          <a:p>
            <a:pPr>
              <a:spcBef>
                <a:spcPct val="0"/>
              </a:spcBef>
              <a:spcAft>
                <a:spcPts val="600"/>
              </a:spcAft>
            </a:pPr>
            <a:r>
              <a:rPr lang="en-US" sz="5400" b="1" u="sng" dirty="0">
                <a:solidFill>
                  <a:srgbClr val="FFFFFF"/>
                </a:solidFill>
                <a:latin typeface="Bernard MT Condensed" panose="02050806060905020404" pitchFamily="18" charset="0"/>
                <a:ea typeface="+mj-ea"/>
                <a:cs typeface="+mj-cs"/>
              </a:rPr>
              <a:t>𝑻𝒉𝒂𝒏𝒌 𝒀𝒐𝒖</a:t>
            </a:r>
          </a:p>
        </p:txBody>
      </p:sp>
    </p:spTree>
    <p:extLst>
      <p:ext uri="{BB962C8B-B14F-4D97-AF65-F5344CB8AC3E}">
        <p14:creationId xmlns:p14="http://schemas.microsoft.com/office/powerpoint/2010/main" val="5091602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75</TotalTime>
  <Words>698</Words>
  <Application>Microsoft Office PowerPoint</Application>
  <PresentationFormat>Widescreen</PresentationFormat>
  <Paragraphs>76</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Bernard MT Condensed</vt:lpstr>
      <vt:lpstr>Century Gothic</vt:lpstr>
      <vt:lpstr>Times New Roman</vt:lpstr>
      <vt:lpstr>Wingdings 3</vt:lpstr>
      <vt:lpstr>Wisp</vt:lpstr>
      <vt:lpstr>Startup Funding Insights Dashboard</vt:lpstr>
      <vt:lpstr>Contents</vt:lpstr>
      <vt:lpstr>PowerPoint Presentation</vt:lpstr>
      <vt:lpstr>PROBLEM STATEMENT</vt:lpstr>
      <vt:lpstr>OBJECTIVES  </vt:lpstr>
      <vt:lpstr>Tools &amp; Technologies</vt:lpstr>
      <vt:lpstr>DATASET</vt:lpstr>
      <vt:lpstr>Dashboard Overview</vt:lpstr>
      <vt:lpstr>VISUALISATIONS</vt:lpstr>
      <vt:lpstr>KEY INSIGHTS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Gowri Kalki</dc:creator>
  <cp:lastModifiedBy>Gowri Kalki</cp:lastModifiedBy>
  <cp:revision>1</cp:revision>
  <dcterms:created xsi:type="dcterms:W3CDTF">2026-07-08T12:46:46Z</dcterms:created>
  <dcterms:modified xsi:type="dcterms:W3CDTF">2026-07-08T14:01:54Z</dcterms:modified>
</cp:coreProperties>
</file>